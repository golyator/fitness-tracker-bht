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8" r:id="rId2"/>
    <p:sldId id="298" r:id="rId3"/>
    <p:sldId id="308" r:id="rId4"/>
    <p:sldId id="303" r:id="rId5"/>
    <p:sldId id="304" r:id="rId6"/>
    <p:sldId id="305" r:id="rId7"/>
    <p:sldId id="309" r:id="rId8"/>
    <p:sldId id="310" r:id="rId9"/>
    <p:sldId id="307" r:id="rId10"/>
    <p:sldId id="320" r:id="rId11"/>
    <p:sldId id="311" r:id="rId12"/>
    <p:sldId id="322" r:id="rId13"/>
    <p:sldId id="318" r:id="rId14"/>
    <p:sldId id="317" r:id="rId15"/>
    <p:sldId id="329" r:id="rId16"/>
    <p:sldId id="328" r:id="rId17"/>
    <p:sldId id="312" r:id="rId18"/>
    <p:sldId id="327" r:id="rId19"/>
    <p:sldId id="316" r:id="rId20"/>
    <p:sldId id="314" r:id="rId21"/>
    <p:sldId id="324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6CAAC-44C0-D575-E932-E38BBE604F11}" v="18" dt="2025-12-05T17:30:58.771"/>
    <p1510:client id="{19D3B464-9B19-7A79-C9B9-E43EA957B679}" v="51" dt="2025-12-05T13:34:30.597"/>
    <p1510:client id="{24DA576A-E51C-0572-34E6-46240EA32C4B}" v="42" dt="2025-12-05T16:02:12.576"/>
    <p1510:client id="{2D4FA3F7-F38D-7359-F953-D0F357FE6C5D}" v="120" dt="2025-12-05T16:44:41.925"/>
    <p1510:client id="{73453D4F-682B-8BA8-ADCE-B3B3101D404D}" v="428" dt="2025-12-05T16:38:14.302"/>
    <p1510:client id="{8CA4BFA9-5069-B05B-64E0-EA5114C84C1C}" v="72" dt="2025-12-05T15:52:19.366"/>
    <p1510:client id="{98E95472-01B6-D049-506C-32322406FDE2}" v="134" dt="2025-12-05T19:13:10.534"/>
    <p1510:client id="{A1B8B3E4-E3DA-54C9-3DEB-C5F68C0A7272}" v="163" dt="2025-12-05T14:43:54.478"/>
    <p1510:client id="{B3F76953-3E13-0488-371E-EDD087F3DB6D}" v="17" dt="2025-12-05T15:39:06.963"/>
    <p1510:client id="{E74FC280-D127-4CAD-4EDD-12D463052F1C}" v="34" dt="2025-12-05T14:32:41.119"/>
    <p1510:client id="{FE95987A-F05B-8902-C372-833E4B7A1FEC}" v="12" dt="2025-12-05T18:12:26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162"/>
        <p:guide pos="234"/>
        <p:guide pos="7446"/>
        <p:guide orient="horz" pos="361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E3070D4-7360-443D-A1F7-5D78FC27E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C4ADE9-F988-449E-BA28-E7AC782B42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46470-C6E6-4225-982F-DF62FC25082F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FD680-0020-4DAC-9565-DA8CFCF97D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450A26-CB08-4CB2-BC1C-0B75659FB3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2C897-68E2-47F4-967B-643ED18E3A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463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DFD46-CF44-49E3-A80F-AF7E82E50300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24853" y="4400550"/>
            <a:ext cx="6208294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92E0A-41DB-45C8-ACC8-54C35AD19B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939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363" indent="-1809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2313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hseck 8">
            <a:extLst>
              <a:ext uri="{FF2B5EF4-FFF2-40B4-BE49-F238E27FC236}">
                <a16:creationId xmlns:a16="http://schemas.microsoft.com/office/drawing/2014/main" id="{D7E2A879-8F5B-4338-A601-2FDB1FC2F9B4}"/>
              </a:ext>
            </a:extLst>
          </p:cNvPr>
          <p:cNvSpPr/>
          <p:nvPr userDrawn="1"/>
        </p:nvSpPr>
        <p:spPr>
          <a:xfrm rot="4487256">
            <a:off x="816061" y="947317"/>
            <a:ext cx="5758629" cy="4965025"/>
          </a:xfrm>
          <a:prstGeom prst="hexagon">
            <a:avLst>
              <a:gd name="adj" fmla="val 29063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621409" y="2417787"/>
            <a:ext cx="7701699" cy="461665"/>
          </a:xfrm>
        </p:spPr>
        <p:txBody>
          <a:bodyPr wrap="square">
            <a:spAutoFit/>
          </a:bodyPr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621409" y="3867345"/>
            <a:ext cx="7701699" cy="21544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A665CEE-15C3-41BF-9597-AA302F3EC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5713" y="433485"/>
            <a:ext cx="1734925" cy="309990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3A45009-5632-4B3F-82F2-0CC94B2E8475}"/>
              </a:ext>
            </a:extLst>
          </p:cNvPr>
          <p:cNvSpPr txBox="1"/>
          <p:nvPr userDrawn="1"/>
        </p:nvSpPr>
        <p:spPr>
          <a:xfrm rot="5400000">
            <a:off x="10526587" y="5125791"/>
            <a:ext cx="1585370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300" b="1">
                <a:solidFill>
                  <a:schemeClr val="bg1"/>
                </a:solidFill>
                <a:latin typeface="+mj-lt"/>
              </a:rPr>
              <a:t>Studiere Zukunft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FBDD5FE-683E-4710-ADEA-50BAF146C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676889">
            <a:off x="4481453" y="3840694"/>
            <a:ext cx="36000" cy="3539983"/>
          </a:xfrm>
          <a:custGeom>
            <a:avLst/>
            <a:gdLst>
              <a:gd name="connsiteX0" fmla="*/ 0 w 36000"/>
              <a:gd name="connsiteY0" fmla="*/ 0 h 3539983"/>
              <a:gd name="connsiteX1" fmla="*/ 36000 w 36000"/>
              <a:gd name="connsiteY1" fmla="*/ 0 h 3539983"/>
              <a:gd name="connsiteX2" fmla="*/ 36000 w 36000"/>
              <a:gd name="connsiteY2" fmla="*/ 3504464 h 3539983"/>
              <a:gd name="connsiteX3" fmla="*/ 0 w 36000"/>
              <a:gd name="connsiteY3" fmla="*/ 3539983 h 353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539983">
                <a:moveTo>
                  <a:pt x="0" y="0"/>
                </a:moveTo>
                <a:lnTo>
                  <a:pt x="36000" y="0"/>
                </a:lnTo>
                <a:lnTo>
                  <a:pt x="36000" y="3504464"/>
                </a:lnTo>
                <a:lnTo>
                  <a:pt x="0" y="353998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1833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DD856098-3659-4A6F-B23D-17F2B2D4A1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31292" y="728030"/>
            <a:ext cx="5544827" cy="55568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 sz="3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35360" y="1956122"/>
            <a:ext cx="7701699" cy="461665"/>
          </a:xfrm>
        </p:spPr>
        <p:txBody>
          <a:bodyPr wrap="square">
            <a:spAutoFit/>
          </a:bodyPr>
          <a:lstStyle/>
          <a:p>
            <a:r>
              <a:rPr lang="de-DE"/>
              <a:t>Titel durch Klicken bearbeiten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597B1E50-BF4D-4373-8C93-859D51992E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5713" y="433485"/>
            <a:ext cx="1734925" cy="3099903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D082D15F-64D0-4041-907C-EBEB8491E875}"/>
              </a:ext>
            </a:extLst>
          </p:cNvPr>
          <p:cNvSpPr txBox="1"/>
          <p:nvPr userDrawn="1"/>
        </p:nvSpPr>
        <p:spPr>
          <a:xfrm rot="5400000">
            <a:off x="10526587" y="5125791"/>
            <a:ext cx="1585370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300" b="1">
                <a:solidFill>
                  <a:schemeClr val="tx1"/>
                </a:solidFill>
                <a:latin typeface="+mj-lt"/>
              </a:rPr>
              <a:t>Studiere Zukunft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35360" y="3514320"/>
            <a:ext cx="7701699" cy="21544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4687E07-8E5F-4BC2-A606-994862EAF1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2676889">
            <a:off x="2419219" y="2753653"/>
            <a:ext cx="36000" cy="4810004"/>
          </a:xfrm>
          <a:custGeom>
            <a:avLst/>
            <a:gdLst>
              <a:gd name="connsiteX0" fmla="*/ 0 w 36000"/>
              <a:gd name="connsiteY0" fmla="*/ 0 h 4810004"/>
              <a:gd name="connsiteX1" fmla="*/ 36000 w 36000"/>
              <a:gd name="connsiteY1" fmla="*/ 0 h 4810004"/>
              <a:gd name="connsiteX2" fmla="*/ 36000 w 36000"/>
              <a:gd name="connsiteY2" fmla="*/ 4774485 h 4810004"/>
              <a:gd name="connsiteX3" fmla="*/ 0 w 36000"/>
              <a:gd name="connsiteY3" fmla="*/ 4810004 h 48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4810004">
                <a:moveTo>
                  <a:pt x="0" y="0"/>
                </a:moveTo>
                <a:lnTo>
                  <a:pt x="36000" y="0"/>
                </a:lnTo>
                <a:lnTo>
                  <a:pt x="36000" y="4774485"/>
                </a:lnTo>
                <a:lnTo>
                  <a:pt x="0" y="481000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3181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DD856098-3659-4A6F-B23D-17F2B2D4A1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63831" y="649749"/>
            <a:ext cx="5544827" cy="5556845"/>
          </a:xfrm>
          <a:custGeom>
            <a:avLst/>
            <a:gdLst>
              <a:gd name="connsiteX0" fmla="*/ 2016887 w 5544827"/>
              <a:gd name="connsiteY0" fmla="*/ 0 h 5556845"/>
              <a:gd name="connsiteX1" fmla="*/ 4791047 w 5544827"/>
              <a:gd name="connsiteY1" fmla="*/ 741016 h 5556845"/>
              <a:gd name="connsiteX2" fmla="*/ 5544827 w 5544827"/>
              <a:gd name="connsiteY2" fmla="*/ 3513017 h 5556845"/>
              <a:gd name="connsiteX3" fmla="*/ 3527940 w 5544827"/>
              <a:gd name="connsiteY3" fmla="*/ 5556845 h 5556845"/>
              <a:gd name="connsiteX4" fmla="*/ 753780 w 5544827"/>
              <a:gd name="connsiteY4" fmla="*/ 4815829 h 5556845"/>
              <a:gd name="connsiteX5" fmla="*/ 0 w 5544827"/>
              <a:gd name="connsiteY5" fmla="*/ 2043829 h 555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4827" h="5556845">
                <a:moveTo>
                  <a:pt x="2016887" y="0"/>
                </a:moveTo>
                <a:lnTo>
                  <a:pt x="4791047" y="741016"/>
                </a:lnTo>
                <a:lnTo>
                  <a:pt x="5544827" y="3513017"/>
                </a:lnTo>
                <a:lnTo>
                  <a:pt x="3527940" y="5556845"/>
                </a:lnTo>
                <a:lnTo>
                  <a:pt x="753780" y="4815829"/>
                </a:lnTo>
                <a:lnTo>
                  <a:pt x="0" y="20438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 sz="100">
                <a:solidFill>
                  <a:schemeClr val="accent4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621409" y="2417787"/>
            <a:ext cx="7701699" cy="461665"/>
          </a:xfrm>
        </p:spPr>
        <p:txBody>
          <a:bodyPr wrap="square">
            <a:spAutoFit/>
          </a:bodyPr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621409" y="3867345"/>
            <a:ext cx="7701699" cy="21544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A665CEE-15C3-41BF-9597-AA302F3EC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5713" y="433485"/>
            <a:ext cx="1734925" cy="309990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3A45009-5632-4B3F-82F2-0CC94B2E8475}"/>
              </a:ext>
            </a:extLst>
          </p:cNvPr>
          <p:cNvSpPr txBox="1"/>
          <p:nvPr userDrawn="1"/>
        </p:nvSpPr>
        <p:spPr>
          <a:xfrm rot="5400000">
            <a:off x="10526587" y="5125791"/>
            <a:ext cx="1585370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300" b="1">
                <a:solidFill>
                  <a:schemeClr val="bg1"/>
                </a:solidFill>
                <a:latin typeface="+mj-lt"/>
              </a:rPr>
              <a:t>Studiere Zukunft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FBDD5FE-683E-4710-ADEA-50BAF146C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676889">
            <a:off x="4481453" y="3840694"/>
            <a:ext cx="36000" cy="3539983"/>
          </a:xfrm>
          <a:custGeom>
            <a:avLst/>
            <a:gdLst>
              <a:gd name="connsiteX0" fmla="*/ 0 w 36000"/>
              <a:gd name="connsiteY0" fmla="*/ 0 h 3539983"/>
              <a:gd name="connsiteX1" fmla="*/ 36000 w 36000"/>
              <a:gd name="connsiteY1" fmla="*/ 0 h 3539983"/>
              <a:gd name="connsiteX2" fmla="*/ 36000 w 36000"/>
              <a:gd name="connsiteY2" fmla="*/ 3504464 h 3539983"/>
              <a:gd name="connsiteX3" fmla="*/ 0 w 36000"/>
              <a:gd name="connsiteY3" fmla="*/ 3539983 h 353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539983">
                <a:moveTo>
                  <a:pt x="0" y="0"/>
                </a:moveTo>
                <a:lnTo>
                  <a:pt x="36000" y="0"/>
                </a:lnTo>
                <a:lnTo>
                  <a:pt x="36000" y="3504464"/>
                </a:lnTo>
                <a:lnTo>
                  <a:pt x="0" y="353998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8034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974CF35-2619-40FC-871F-8D071AE50E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83000" y="1017588"/>
            <a:ext cx="4826000" cy="4827587"/>
          </a:xfrm>
          <a:solidFill>
            <a:schemeClr val="bg1"/>
          </a:solidFill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621409" y="2417787"/>
            <a:ext cx="7701699" cy="46166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621409" y="3867345"/>
            <a:ext cx="7701699" cy="21544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A665CEE-15C3-41BF-9597-AA302F3EC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5713" y="433485"/>
            <a:ext cx="1734925" cy="309990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3A45009-5632-4B3F-82F2-0CC94B2E8475}"/>
              </a:ext>
            </a:extLst>
          </p:cNvPr>
          <p:cNvSpPr txBox="1"/>
          <p:nvPr userDrawn="1"/>
        </p:nvSpPr>
        <p:spPr>
          <a:xfrm rot="5400000">
            <a:off x="10526587" y="5125791"/>
            <a:ext cx="1585370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300" b="1">
                <a:solidFill>
                  <a:schemeClr val="bg1"/>
                </a:solidFill>
                <a:latin typeface="+mj-lt"/>
              </a:rPr>
              <a:t>Studiere Zukunft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FBDD5FE-683E-4710-ADEA-50BAF146C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676889">
            <a:off x="4481453" y="3840694"/>
            <a:ext cx="36000" cy="3539983"/>
          </a:xfrm>
          <a:custGeom>
            <a:avLst/>
            <a:gdLst>
              <a:gd name="connsiteX0" fmla="*/ 0 w 36000"/>
              <a:gd name="connsiteY0" fmla="*/ 0 h 3539983"/>
              <a:gd name="connsiteX1" fmla="*/ 36000 w 36000"/>
              <a:gd name="connsiteY1" fmla="*/ 0 h 3539983"/>
              <a:gd name="connsiteX2" fmla="*/ 36000 w 36000"/>
              <a:gd name="connsiteY2" fmla="*/ 3504464 h 3539983"/>
              <a:gd name="connsiteX3" fmla="*/ 0 w 36000"/>
              <a:gd name="connsiteY3" fmla="*/ 3539983 h 353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539983">
                <a:moveTo>
                  <a:pt x="0" y="0"/>
                </a:moveTo>
                <a:lnTo>
                  <a:pt x="36000" y="0"/>
                </a:lnTo>
                <a:lnTo>
                  <a:pt x="36000" y="3504464"/>
                </a:lnTo>
                <a:lnTo>
                  <a:pt x="0" y="353998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781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D172411E-4FBA-46E1-B081-7589FC7E224B}"/>
              </a:ext>
            </a:extLst>
          </p:cNvPr>
          <p:cNvSpPr/>
          <p:nvPr userDrawn="1"/>
        </p:nvSpPr>
        <p:spPr>
          <a:xfrm>
            <a:off x="0" y="5821377"/>
            <a:ext cx="12192000" cy="103662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2250A397-8ADA-4742-8FAF-675D69FA680A}"/>
              </a:ext>
            </a:extLst>
          </p:cNvPr>
          <p:cNvSpPr/>
          <p:nvPr userDrawn="1"/>
        </p:nvSpPr>
        <p:spPr>
          <a:xfrm rot="5400000">
            <a:off x="3029137" y="967823"/>
            <a:ext cx="5329162" cy="4594105"/>
          </a:xfrm>
          <a:prstGeom prst="triangl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024AF2-280A-4DC1-9FAA-EA7E4724C2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5963" y="3034043"/>
            <a:ext cx="10760074" cy="461665"/>
          </a:xfrm>
        </p:spPr>
        <p:txBody>
          <a:bodyPr anchor="ctr" anchorCtr="0">
            <a:spAutoFit/>
          </a:bodyPr>
          <a:lstStyle>
            <a:lvl1pPr>
              <a:spcBef>
                <a:spcPts val="0"/>
              </a:spcBef>
              <a:defRPr sz="3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7311405A-1E30-4E73-B6C9-7B9A855029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676889" flipH="1" flipV="1">
            <a:off x="5974814" y="-576926"/>
            <a:ext cx="36000" cy="3888000"/>
          </a:xfrm>
          <a:custGeom>
            <a:avLst/>
            <a:gdLst>
              <a:gd name="connsiteX0" fmla="*/ 36000 w 36000"/>
              <a:gd name="connsiteY0" fmla="*/ 3399146 h 3434665"/>
              <a:gd name="connsiteX1" fmla="*/ 0 w 36000"/>
              <a:gd name="connsiteY1" fmla="*/ 3434665 h 3434665"/>
              <a:gd name="connsiteX2" fmla="*/ 0 w 36000"/>
              <a:gd name="connsiteY2" fmla="*/ 0 h 3434665"/>
              <a:gd name="connsiteX3" fmla="*/ 36000 w 36000"/>
              <a:gd name="connsiteY3" fmla="*/ 0 h 343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434665">
                <a:moveTo>
                  <a:pt x="36000" y="3399146"/>
                </a:moveTo>
                <a:lnTo>
                  <a:pt x="0" y="3434665"/>
                </a:lnTo>
                <a:lnTo>
                  <a:pt x="0" y="0"/>
                </a:lnTo>
                <a:lnTo>
                  <a:pt x="3600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20328D-FB9A-4E23-8BE6-4D1FFA580D0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4D94C9-423F-4CD9-8E1B-651B4DF48C6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7987FD-A5AD-43CC-AAFA-2E7A8F6696E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3347983-3E18-4AD5-96EE-E0FB2C2E27D6}"/>
              </a:ext>
            </a:extLst>
          </p:cNvPr>
          <p:cNvSpPr txBox="1">
            <a:spLocks/>
          </p:cNvSpPr>
          <p:nvPr userDrawn="1"/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2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2E7EADE-0381-4505-A155-EDDF49E988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14" y="6142706"/>
            <a:ext cx="2340869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89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F3A1A91-48C5-416C-BB65-05883C51B319}"/>
              </a:ext>
            </a:extLst>
          </p:cNvPr>
          <p:cNvSpPr/>
          <p:nvPr userDrawn="1"/>
        </p:nvSpPr>
        <p:spPr>
          <a:xfrm>
            <a:off x="0" y="5821377"/>
            <a:ext cx="12192000" cy="1036623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13" name="Sechseck 12">
            <a:extLst>
              <a:ext uri="{FF2B5EF4-FFF2-40B4-BE49-F238E27FC236}">
                <a16:creationId xmlns:a16="http://schemas.microsoft.com/office/drawing/2014/main" id="{7D814684-3280-4860-8CA7-759AB8E4587A}"/>
              </a:ext>
            </a:extLst>
          </p:cNvPr>
          <p:cNvSpPr/>
          <p:nvPr userDrawn="1"/>
        </p:nvSpPr>
        <p:spPr>
          <a:xfrm rot="4487256">
            <a:off x="3143623" y="947316"/>
            <a:ext cx="5758629" cy="4965025"/>
          </a:xfrm>
          <a:prstGeom prst="hexagon">
            <a:avLst>
              <a:gd name="adj" fmla="val 29063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024AF2-280A-4DC1-9FAA-EA7E4724C2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5963" y="3034043"/>
            <a:ext cx="10760074" cy="461665"/>
          </a:xfrm>
        </p:spPr>
        <p:txBody>
          <a:bodyPr anchor="ctr" anchorCtr="0">
            <a:spAutoFit/>
          </a:bodyPr>
          <a:lstStyle>
            <a:lvl1pPr>
              <a:spcBef>
                <a:spcPts val="0"/>
              </a:spcBef>
              <a:defRPr sz="3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C8C3B54-A0ED-46E8-90D3-0287F5BED1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676889" flipH="1" flipV="1">
            <a:off x="5974814" y="-576926"/>
            <a:ext cx="36000" cy="3888000"/>
          </a:xfrm>
          <a:custGeom>
            <a:avLst/>
            <a:gdLst>
              <a:gd name="connsiteX0" fmla="*/ 36000 w 36000"/>
              <a:gd name="connsiteY0" fmla="*/ 3399146 h 3434665"/>
              <a:gd name="connsiteX1" fmla="*/ 0 w 36000"/>
              <a:gd name="connsiteY1" fmla="*/ 3434665 h 3434665"/>
              <a:gd name="connsiteX2" fmla="*/ 0 w 36000"/>
              <a:gd name="connsiteY2" fmla="*/ 0 h 3434665"/>
              <a:gd name="connsiteX3" fmla="*/ 36000 w 36000"/>
              <a:gd name="connsiteY3" fmla="*/ 0 h 343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434665">
                <a:moveTo>
                  <a:pt x="36000" y="3399146"/>
                </a:moveTo>
                <a:lnTo>
                  <a:pt x="0" y="3434665"/>
                </a:lnTo>
                <a:lnTo>
                  <a:pt x="0" y="0"/>
                </a:lnTo>
                <a:lnTo>
                  <a:pt x="3600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58A091-D308-48FB-A895-20B83BFDC8E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C97728-23BD-4E26-A06A-2BDC7B2ECF6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86D393-6FF7-4D0C-8EF5-D58773655AF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EA68385-DE13-4D3D-8DE5-7C643FC19FBE}"/>
              </a:ext>
            </a:extLst>
          </p:cNvPr>
          <p:cNvSpPr txBox="1">
            <a:spLocks/>
          </p:cNvSpPr>
          <p:nvPr userDrawn="1"/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2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11D978D-47AE-402B-90F5-F6B4CD68AA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14" y="6142706"/>
            <a:ext cx="2340869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73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E611E48-5160-4D26-876B-F200ECCF9E50}"/>
              </a:ext>
            </a:extLst>
          </p:cNvPr>
          <p:cNvSpPr/>
          <p:nvPr userDrawn="1"/>
        </p:nvSpPr>
        <p:spPr>
          <a:xfrm>
            <a:off x="730199" y="1031704"/>
            <a:ext cx="4815751" cy="47896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18824AD-6BDA-478F-84DC-39A6979319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676889" flipH="1" flipV="1">
            <a:off x="2853479" y="-507500"/>
            <a:ext cx="36000" cy="3434665"/>
          </a:xfrm>
          <a:custGeom>
            <a:avLst/>
            <a:gdLst>
              <a:gd name="connsiteX0" fmla="*/ 36000 w 36000"/>
              <a:gd name="connsiteY0" fmla="*/ 3399146 h 3434665"/>
              <a:gd name="connsiteX1" fmla="*/ 0 w 36000"/>
              <a:gd name="connsiteY1" fmla="*/ 3434665 h 3434665"/>
              <a:gd name="connsiteX2" fmla="*/ 0 w 36000"/>
              <a:gd name="connsiteY2" fmla="*/ 0 h 3434665"/>
              <a:gd name="connsiteX3" fmla="*/ 36000 w 36000"/>
              <a:gd name="connsiteY3" fmla="*/ 0 h 343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434665">
                <a:moveTo>
                  <a:pt x="36000" y="3399146"/>
                </a:moveTo>
                <a:lnTo>
                  <a:pt x="0" y="3434665"/>
                </a:lnTo>
                <a:lnTo>
                  <a:pt x="0" y="0"/>
                </a:lnTo>
                <a:lnTo>
                  <a:pt x="3600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0D7BAB6C-3DE8-491E-86F3-1114438DB0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2519" y="3034043"/>
            <a:ext cx="8886962" cy="461665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3000" b="1">
                <a:latin typeface="+mj-lt"/>
              </a:defRPr>
            </a:lvl1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753655-F7ED-4958-AB46-A0ADEEECB77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5D6640-77AA-41B6-9D29-957838BFECF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F3AFC7-F30B-47EA-81F7-98485E1C9C9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798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D115AAA-461B-4923-891F-750E09AD67E4}"/>
              </a:ext>
            </a:extLst>
          </p:cNvPr>
          <p:cNvSpPr/>
          <p:nvPr userDrawn="1"/>
        </p:nvSpPr>
        <p:spPr>
          <a:xfrm>
            <a:off x="0" y="5821377"/>
            <a:ext cx="12192000" cy="1036623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E611E48-5160-4D26-876B-F200ECCF9E50}"/>
              </a:ext>
            </a:extLst>
          </p:cNvPr>
          <p:cNvSpPr/>
          <p:nvPr userDrawn="1"/>
        </p:nvSpPr>
        <p:spPr>
          <a:xfrm>
            <a:off x="5905513" y="1031704"/>
            <a:ext cx="4815751" cy="4789673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0D7BAB6C-3DE8-491E-86F3-1114438DB0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2519" y="3034043"/>
            <a:ext cx="8886962" cy="461665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488F6D0-89EB-43DE-BACD-82F2D08F6C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2676889">
            <a:off x="7149113" y="3392887"/>
            <a:ext cx="36000" cy="4063167"/>
          </a:xfrm>
          <a:custGeom>
            <a:avLst/>
            <a:gdLst>
              <a:gd name="connsiteX0" fmla="*/ 0 w 36000"/>
              <a:gd name="connsiteY0" fmla="*/ 0 h 4063167"/>
              <a:gd name="connsiteX1" fmla="*/ 36000 w 36000"/>
              <a:gd name="connsiteY1" fmla="*/ 0 h 4063167"/>
              <a:gd name="connsiteX2" fmla="*/ 36000 w 36000"/>
              <a:gd name="connsiteY2" fmla="*/ 4027647 h 4063167"/>
              <a:gd name="connsiteX3" fmla="*/ 0 w 36000"/>
              <a:gd name="connsiteY3" fmla="*/ 4063167 h 406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4063167">
                <a:moveTo>
                  <a:pt x="0" y="0"/>
                </a:moveTo>
                <a:lnTo>
                  <a:pt x="36000" y="0"/>
                </a:lnTo>
                <a:lnTo>
                  <a:pt x="36000" y="4027647"/>
                </a:lnTo>
                <a:lnTo>
                  <a:pt x="0" y="4063167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E357A-B91A-4995-8E84-FAA17131C42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1B560F-F0E0-48EC-963E-4CC660AE16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33BE76-A066-4019-8D10-D9B83F2805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95F5739-BF86-45AD-927D-8E4AE5F7EF4A}"/>
              </a:ext>
            </a:extLst>
          </p:cNvPr>
          <p:cNvSpPr txBox="1">
            <a:spLocks/>
          </p:cNvSpPr>
          <p:nvPr userDrawn="1"/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2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36856A-C55C-42B5-9FB9-3CC8DD30D2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14" y="6142706"/>
            <a:ext cx="2340869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3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D0CB7A9-2798-44CE-AE04-B7B8D080AC1B}"/>
              </a:ext>
            </a:extLst>
          </p:cNvPr>
          <p:cNvSpPr/>
          <p:nvPr userDrawn="1"/>
        </p:nvSpPr>
        <p:spPr>
          <a:xfrm>
            <a:off x="0" y="5839485"/>
            <a:ext cx="12192000" cy="10185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566CB3-A837-42AF-B5F5-A752117C71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A58E41F-9C8B-4524-B0A5-AFB5DD04D2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2676889">
            <a:off x="3929041" y="2753653"/>
            <a:ext cx="36000" cy="4810004"/>
          </a:xfrm>
          <a:custGeom>
            <a:avLst/>
            <a:gdLst>
              <a:gd name="connsiteX0" fmla="*/ 0 w 36000"/>
              <a:gd name="connsiteY0" fmla="*/ 0 h 4810004"/>
              <a:gd name="connsiteX1" fmla="*/ 36000 w 36000"/>
              <a:gd name="connsiteY1" fmla="*/ 0 h 4810004"/>
              <a:gd name="connsiteX2" fmla="*/ 36000 w 36000"/>
              <a:gd name="connsiteY2" fmla="*/ 4774485 h 4810004"/>
              <a:gd name="connsiteX3" fmla="*/ 0 w 36000"/>
              <a:gd name="connsiteY3" fmla="*/ 4810004 h 48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4810004">
                <a:moveTo>
                  <a:pt x="0" y="0"/>
                </a:moveTo>
                <a:lnTo>
                  <a:pt x="36000" y="0"/>
                </a:lnTo>
                <a:lnTo>
                  <a:pt x="36000" y="4774485"/>
                </a:lnTo>
                <a:lnTo>
                  <a:pt x="0" y="481000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5A524A6-E03A-4437-A7C6-634A3AF63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6232676" y="1031704"/>
            <a:ext cx="4815751" cy="4789673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>
            <a:lvl1pPr>
              <a:defRPr sz="1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8DB6889A-7AEB-4BA9-92E7-FC5E53A63B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52519" y="3034043"/>
            <a:ext cx="8886962" cy="461665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2554CC-47F0-4218-BE2E-7A3710E5C9A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E607F-AE5C-4CFA-A34A-D93CE478CE5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35ABE2-C8DF-42EB-B1A2-2DE3DC291FB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4C7669D4-B665-46B0-ABE3-5211EE9A20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anchor="ctr" anchorCtr="0"/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65BD47C-F774-448D-B4D4-8C19E329A2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1088" y="6088511"/>
            <a:ext cx="2484566" cy="399535"/>
          </a:xfrm>
          <a:blipFill>
            <a:blip r:embed="rId2"/>
            <a:stretch>
              <a:fillRect l="2351" t="12405" r="3345" b="1529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3094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79784" y="1855365"/>
            <a:ext cx="11432432" cy="3877891"/>
          </a:xfrm>
        </p:spPr>
        <p:txBody>
          <a:bodyPr/>
          <a:lstStyle/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BE7242-DDD0-4EF0-B0F6-F48A4751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8FC970-B80F-4283-B8B8-73C9483F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7360C-01EF-4258-B0AA-935D6425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46D2279-3662-4788-95CD-2A920ECC58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60600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5118C5-1128-4DE6-97BD-FE61799C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1A3422-FA91-4AE7-A0FE-0F00746F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276D6C-403D-4A2E-94BF-D5F0E08B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E75C0A82-FB99-4E8B-966D-307D24E0F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559036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79784" y="615305"/>
            <a:ext cx="11432432" cy="461665"/>
          </a:xfrm>
        </p:spPr>
        <p:txBody>
          <a:bodyPr/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79784" y="1855365"/>
            <a:ext cx="5530620" cy="38778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81596" y="1855365"/>
            <a:ext cx="5530620" cy="38778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30618D-E111-4CEB-86B4-F54CF611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FC6BC7-B6EB-4701-B143-97202025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FA7DC2-2C89-4431-ACD5-24169751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7117DA8-5283-44A5-9B5B-DC1000B17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702983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79784" y="1855365"/>
            <a:ext cx="7089687" cy="3877891"/>
          </a:xfrm>
        </p:spPr>
        <p:txBody>
          <a:bodyPr/>
          <a:lstStyle/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8E333D0-44A7-41E8-B63A-9F160546BF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40663" y="1855364"/>
            <a:ext cx="4351337" cy="387789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97B0D9-B10E-4952-BBC6-3737340460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D4AF48-A7BC-48D0-ABE2-0724C40304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C93EF3-34F7-41FE-A300-E8A743B95D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F0E214BF-9E6B-4C5B-908C-4D77D7A8AF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1904324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79785" y="1855365"/>
            <a:ext cx="5233366" cy="3877891"/>
          </a:xfrm>
        </p:spPr>
        <p:txBody>
          <a:bodyPr/>
          <a:lstStyle/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8E333D0-44A7-41E8-B63A-9F160546BF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4342" y="1855364"/>
            <a:ext cx="6207657" cy="387789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AD70EA-EF36-4C8F-BFDB-1A877C5B958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BE6331-B096-4A48-9935-F1FE33840E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466628-9778-406B-BEDE-57C2DBF7E5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CCF7BED7-99CE-4467-B504-58D07FC1C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60945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ntergrundbild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8764DD46-0A23-475D-A428-A9F814FAA05B}"/>
              </a:ext>
            </a:extLst>
          </p:cNvPr>
          <p:cNvSpPr/>
          <p:nvPr userDrawn="1"/>
        </p:nvSpPr>
        <p:spPr>
          <a:xfrm>
            <a:off x="0" y="6071488"/>
            <a:ext cx="12192000" cy="7865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566CB3-A837-42AF-B5F5-A752117C71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5A524A6-E03A-4437-A7C6-634A3AF63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4969" y="1031704"/>
            <a:ext cx="4815751" cy="4789673"/>
          </a:xfrm>
          <a:solidFill>
            <a:schemeClr val="bg1"/>
          </a:solid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18824AD-6BDA-478F-84DC-39A6979319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676889" flipH="1" flipV="1">
            <a:off x="4437182" y="-507500"/>
            <a:ext cx="36000" cy="3434665"/>
          </a:xfrm>
          <a:custGeom>
            <a:avLst/>
            <a:gdLst>
              <a:gd name="connsiteX0" fmla="*/ 36000 w 36000"/>
              <a:gd name="connsiteY0" fmla="*/ 3399146 h 3434665"/>
              <a:gd name="connsiteX1" fmla="*/ 0 w 36000"/>
              <a:gd name="connsiteY1" fmla="*/ 3434665 h 3434665"/>
              <a:gd name="connsiteX2" fmla="*/ 0 w 36000"/>
              <a:gd name="connsiteY2" fmla="*/ 0 h 3434665"/>
              <a:gd name="connsiteX3" fmla="*/ 36000 w 36000"/>
              <a:gd name="connsiteY3" fmla="*/ 0 h 343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" h="3434665">
                <a:moveTo>
                  <a:pt x="36000" y="3399146"/>
                </a:moveTo>
                <a:lnTo>
                  <a:pt x="0" y="3434665"/>
                </a:lnTo>
                <a:lnTo>
                  <a:pt x="0" y="0"/>
                </a:lnTo>
                <a:lnTo>
                  <a:pt x="3600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943D7644-8853-4599-B143-1B991917B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2519" y="2803211"/>
            <a:ext cx="3344994" cy="923330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3000" b="1">
                <a:latin typeface="+mj-lt"/>
              </a:defRPr>
            </a:lvl1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BB126F-9C5F-464D-ADF6-E17B7ACF3C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1234F6-4756-4E9B-B42B-B553A3290D4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A58EBE-87A3-4464-8ABD-C81E4134B48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A6F78F1C-3EED-43AE-8179-24B22039AC4A}"/>
              </a:ext>
            </a:extLst>
          </p:cNvPr>
          <p:cNvSpPr txBox="1">
            <a:spLocks/>
          </p:cNvSpPr>
          <p:nvPr userDrawn="1"/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2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0B603A62-7A02-45E8-BBDA-51F67675AA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13008" y="6169112"/>
            <a:ext cx="688887" cy="688887"/>
          </a:xfrm>
          <a:prstGeom prst="parallelogram">
            <a:avLst>
              <a:gd name="adj" fmla="val 98005"/>
            </a:avLst>
          </a:prstGeom>
          <a:solidFill>
            <a:schemeClr val="bg1"/>
          </a:solidFill>
        </p:spPr>
        <p:txBody>
          <a:bodyPr anchor="ctr" anchorCtr="0"/>
          <a:lstStyle>
            <a:lvl1pPr>
              <a:defRPr sz="20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76581148-B17E-4D6C-B2BB-29213646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8129" y="6094246"/>
            <a:ext cx="2484566" cy="399535"/>
          </a:xfrm>
          <a:blipFill>
            <a:blip r:embed="rId2"/>
            <a:stretch>
              <a:fillRect l="2351" t="12405" r="3345" b="1529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4895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6F8CAE-CF2A-4673-8D5A-167DCBDC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F086EF-D6CE-4C96-A459-FA3EB00D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9C537E-D45A-4DAD-A8B6-D67DDA86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732CE0B7-A648-4B1B-BD2A-E84FAD536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784" y="5810258"/>
            <a:ext cx="710131" cy="107722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700"/>
            </a:lvl1pPr>
            <a:lvl2pPr>
              <a:spcBef>
                <a:spcPts val="0"/>
              </a:spcBef>
              <a:defRPr sz="700"/>
            </a:lvl2pPr>
            <a:lvl3pPr>
              <a:spcBef>
                <a:spcPts val="0"/>
              </a:spcBef>
              <a:defRPr sz="700"/>
            </a:lvl3pPr>
            <a:lvl4pPr>
              <a:spcBef>
                <a:spcPts val="0"/>
              </a:spcBef>
              <a:defRPr sz="700"/>
            </a:lvl4pPr>
            <a:lvl5pPr>
              <a:spcBef>
                <a:spcPts val="0"/>
              </a:spcBef>
              <a:defRPr sz="700"/>
            </a:lvl5pPr>
          </a:lstStyle>
          <a:p>
            <a:pPr lvl="0"/>
            <a:r>
              <a:rPr lang="de-DE"/>
              <a:t>Fußnote/Quelle</a:t>
            </a:r>
          </a:p>
        </p:txBody>
      </p:sp>
    </p:spTree>
    <p:extLst>
      <p:ext uri="{BB962C8B-B14F-4D97-AF65-F5344CB8AC3E}">
        <p14:creationId xmlns:p14="http://schemas.microsoft.com/office/powerpoint/2010/main" val="3087120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9784" y="615305"/>
            <a:ext cx="11432432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Titel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9784" y="1855365"/>
            <a:ext cx="11432432" cy="38778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175783" y="6288129"/>
            <a:ext cx="5818927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75784" y="6134240"/>
            <a:ext cx="581892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Fitness-Tracker App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86100" y="6288129"/>
            <a:ext cx="50966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tabLst/>
              <a:defRPr lang="de-DE" sz="1000" b="1" smtClean="0">
                <a:latin typeface="+mj-lt"/>
              </a:defRPr>
            </a:lvl1pPr>
          </a:lstStyle>
          <a:p>
            <a:fld id="{69F34120-B5BD-450B-94B9-3E8DBFFED80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DD39041-945C-4C55-883F-08F4BD0BDAB5}"/>
              </a:ext>
            </a:extLst>
          </p:cNvPr>
          <p:cNvSpPr txBox="1">
            <a:spLocks/>
          </p:cNvSpPr>
          <p:nvPr userDrawn="1"/>
        </p:nvSpPr>
        <p:spPr>
          <a:xfrm>
            <a:off x="10811596" y="6167702"/>
            <a:ext cx="690299" cy="690299"/>
          </a:xfrm>
          <a:prstGeom prst="parallelogram">
            <a:avLst>
              <a:gd name="adj" fmla="val 98369"/>
            </a:avLst>
          </a:prstGeom>
          <a:solidFill>
            <a:schemeClr val="tx1"/>
          </a:solidFill>
        </p:spPr>
        <p:txBody>
          <a:bodyPr anchor="ctr" anchorCtr="0"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DBC6398-6835-48BB-8FC0-607BB45C22F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58514" y="6142706"/>
            <a:ext cx="2340869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62" r:id="rId10"/>
    <p:sldLayoutId id="2147483666" r:id="rId11"/>
    <p:sldLayoutId id="2147483664" r:id="rId12"/>
    <p:sldLayoutId id="2147483669" r:id="rId13"/>
    <p:sldLayoutId id="2147483670" r:id="rId14"/>
    <p:sldLayoutId id="2147483671" r:id="rId15"/>
    <p:sldLayoutId id="2147483667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3" indent="-274638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3525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gif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F1AD76-A830-4236-BF92-AD8F3410F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09" y="2417787"/>
            <a:ext cx="3769741" cy="461665"/>
          </a:xfrm>
        </p:spPr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79F88124-E73C-4D56-9D3A-6B5C680C2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409" y="3867345"/>
            <a:ext cx="3629347" cy="129266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 b="1"/>
              <a:t>Datum</a:t>
            </a:r>
            <a:r>
              <a:rPr lang="de-DE"/>
              <a:t>:  06.12.2025</a:t>
            </a:r>
          </a:p>
          <a:p>
            <a:r>
              <a:rPr lang="de-DE" b="1"/>
              <a:t>Team 1</a:t>
            </a:r>
            <a:r>
              <a:rPr lang="de-DE"/>
              <a:t>: Sönmez </a:t>
            </a:r>
            <a:r>
              <a:rPr lang="de-DE" err="1"/>
              <a:t>Süner</a:t>
            </a:r>
            <a:endParaRPr lang="de-DE"/>
          </a:p>
          <a:p>
            <a:r>
              <a:rPr lang="de-DE"/>
              <a:t>    Jost </a:t>
            </a:r>
            <a:r>
              <a:rPr lang="de-DE" err="1"/>
              <a:t>Nadwornik</a:t>
            </a:r>
            <a:endParaRPr lang="de-DE"/>
          </a:p>
          <a:p>
            <a:r>
              <a:rPr lang="de-DE"/>
              <a:t>              Volodymyr </a:t>
            </a:r>
            <a:r>
              <a:rPr lang="de-DE" err="1"/>
              <a:t>Rusobrov</a:t>
            </a:r>
            <a:endParaRPr lang="de-DE"/>
          </a:p>
          <a:p>
            <a:r>
              <a:rPr lang="de-DE"/>
              <a:t>              Oksana </a:t>
            </a:r>
            <a:r>
              <a:rPr lang="de-DE" err="1"/>
              <a:t>Orel</a:t>
            </a:r>
            <a:endParaRPr lang="de-DE"/>
          </a:p>
          <a:p>
            <a:r>
              <a:rPr lang="de-DE"/>
              <a:t>              Magdalena Kretschmer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41159B-411C-4A26-AB2E-DFC6375DB9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055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9D50B-8276-49B2-8322-7447F39B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818C63-8269-4914-9F59-DE04F571D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84" y="1566049"/>
            <a:ext cx="11425106" cy="4115980"/>
          </a:xfrm>
        </p:spPr>
        <p:txBody>
          <a:bodyPr vert="horz" lIns="0" tIns="0" rIns="0" bIns="0" rtlCol="0" anchor="t">
            <a:noAutofit/>
          </a:bodyPr>
          <a:lstStyle/>
          <a:p>
            <a:pPr marL="774700" indent="-342900">
              <a:buFont typeface="+mj-lt"/>
              <a:buAutoNum type="arabicPeriod"/>
            </a:pPr>
            <a:r>
              <a:rPr lang="de-DE"/>
              <a:t>Projektthema</a:t>
            </a:r>
            <a:endParaRPr lang="en-US"/>
          </a:p>
          <a:p>
            <a:pPr marL="774700" indent="-342900">
              <a:buAutoNum type="arabicPeriod"/>
            </a:pPr>
            <a:r>
              <a:rPr lang="de-DE"/>
              <a:t>Geplanter vs. realisierter Funktionsumfang</a:t>
            </a:r>
            <a:endParaRPr lang="en-US"/>
          </a:p>
          <a:p>
            <a:pPr marL="774700" indent="-342900">
              <a:buFont typeface="+mj-lt"/>
              <a:buAutoNum type="arabicPeriod"/>
            </a:pPr>
            <a:r>
              <a:rPr lang="de-DE"/>
              <a:t>Technologie-Stack &amp; Architekturmodell</a:t>
            </a:r>
          </a:p>
          <a:p>
            <a:pPr marL="774700" indent="-342900">
              <a:buAutoNum type="arabicPeriod"/>
            </a:pPr>
            <a:r>
              <a:rPr lang="de-DE"/>
              <a:t>Funktional &amp; Nicht-Funktional </a:t>
            </a:r>
            <a:r>
              <a:rPr lang="de-DE">
                <a:ea typeface="+mn-lt"/>
                <a:cs typeface="+mn-lt"/>
              </a:rPr>
              <a:t>Anforderungen</a:t>
            </a:r>
          </a:p>
          <a:p>
            <a:pPr marL="774700" indent="-342900">
              <a:buFont typeface="+mj-lt"/>
              <a:buAutoNum type="arabicPeriod"/>
            </a:pPr>
            <a:r>
              <a:rPr lang="de-DE"/>
              <a:t>Use-Cases und UML-Diagramme</a:t>
            </a:r>
          </a:p>
          <a:p>
            <a:pPr marL="774700" indent="-342900">
              <a:buAutoNum type="arabicPeriod"/>
            </a:pPr>
            <a:r>
              <a:rPr lang="de-DE"/>
              <a:t>Implementierung, Versionsverwaltung, </a:t>
            </a:r>
            <a:r>
              <a:rPr lang="de-DE" err="1"/>
              <a:t>Testing</a:t>
            </a:r>
            <a:endParaRPr lang="de-DE"/>
          </a:p>
          <a:p>
            <a:pPr marL="774700" indent="-342900">
              <a:buFont typeface="+mj-lt"/>
              <a:buAutoNum type="arabicPeriod"/>
            </a:pPr>
            <a:r>
              <a:rPr lang="de-DE"/>
              <a:t>KI-Werkzeuge im Entwicklungsprozess</a:t>
            </a:r>
          </a:p>
          <a:p>
            <a:pPr marL="774700" indent="-342900">
              <a:buFont typeface="+mj-lt"/>
              <a:buAutoNum type="arabicPeriod"/>
            </a:pPr>
            <a:r>
              <a:rPr lang="de-DE"/>
              <a:t>Herausforderungen und Lösungen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3777D6-512D-419D-909E-22E08C15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DC295-4DB7-4D58-B6F5-4DFA0BBF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DD9DC96C-E30B-41C1-9CB1-1097C0B7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1B221B8-3802-480B-831B-F35435B34C54}"/>
              </a:ext>
            </a:extLst>
          </p:cNvPr>
          <p:cNvSpPr txBox="1"/>
          <p:nvPr/>
        </p:nvSpPr>
        <p:spPr>
          <a:xfrm rot="1003317">
            <a:off x="9535285" y="324594"/>
            <a:ext cx="1636666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200" b="1">
                <a:solidFill>
                  <a:schemeClr val="bg1"/>
                </a:solidFill>
              </a:rPr>
              <a:t>Bitte diese Folie</a:t>
            </a:r>
          </a:p>
          <a:p>
            <a:pPr algn="ctr"/>
            <a:r>
              <a:rPr lang="de-DE" sz="1200" b="1">
                <a:solidFill>
                  <a:schemeClr val="bg1"/>
                </a:solidFill>
              </a:rPr>
              <a:t>nach Erstellung der </a:t>
            </a:r>
          </a:p>
          <a:p>
            <a:pPr algn="ctr"/>
            <a:r>
              <a:rPr lang="de-DE" sz="1200" b="1">
                <a:solidFill>
                  <a:schemeClr val="bg1"/>
                </a:solidFill>
              </a:rPr>
              <a:t>Präsentation</a:t>
            </a:r>
          </a:p>
          <a:p>
            <a:pPr algn="ctr"/>
            <a:r>
              <a:rPr lang="de-DE" sz="1200" b="1">
                <a:solidFill>
                  <a:schemeClr val="bg1"/>
                </a:solidFill>
              </a:rPr>
              <a:t> löschen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B808B72-48FB-420D-BB18-A87C7E21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34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19580-4AAC-4204-97FF-D6348517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Projektthema: Einführung &amp; Motivation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F1ECFD-2715-4A60-88A5-E9EDC9DC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1B7E6C-4327-4368-A90D-019F02F9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79EB25-429A-4BC2-B35F-5CF66CD7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83CA06B-62C3-466E-B07A-8D22129A8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b="1"/>
          </a:p>
          <a:p>
            <a:r>
              <a:rPr lang="de-DE" b="1"/>
              <a:t>Was ist unser Projektthema?</a:t>
            </a:r>
          </a:p>
          <a:p>
            <a:endParaRPr lang="de-DE"/>
          </a:p>
          <a:p>
            <a:pPr marL="806450" indent="-285750">
              <a:buFont typeface="Wingdings" panose="05000000000000000000" pitchFamily="2" charset="2"/>
              <a:buChar char="Ø"/>
            </a:pPr>
            <a:r>
              <a:rPr lang="de-DE"/>
              <a:t>Entwicklung einer mobilen Fitness-Tracker-App</a:t>
            </a:r>
          </a:p>
          <a:p>
            <a:pPr marL="806450" indent="-285750">
              <a:buFont typeface="Wingdings" panose="05000000000000000000" pitchFamily="2" charset="2"/>
              <a:buChar char="Ø"/>
            </a:pPr>
            <a:r>
              <a:rPr lang="de-DE"/>
              <a:t>Kernidee: Manuelle Erfassung von Ernährung, Aktivitäten und persönlichen Daten</a:t>
            </a:r>
          </a:p>
          <a:p>
            <a:pPr marL="806450" indent="-285750">
              <a:buFont typeface="Wingdings" panose="05000000000000000000" pitchFamily="2" charset="2"/>
              <a:buChar char="Ø"/>
            </a:pPr>
            <a:r>
              <a:rPr lang="de-DE"/>
              <a:t>Ziel: Transparente Kalorienbilanz für den Nutzer</a:t>
            </a:r>
          </a:p>
          <a:p>
            <a:pPr marL="806450" indent="-285750">
              <a:buFont typeface="Wingdings" panose="05000000000000000000" pitchFamily="2" charset="2"/>
              <a:buChar char="Ø"/>
            </a:pPr>
            <a:r>
              <a:rPr lang="de-DE"/>
              <a:t>Zielgruppe: Fitness-Interessierte, Einsteiger &amp; alle, die ihre Gesundheit strukturierter verfolgen möchten</a:t>
            </a:r>
          </a:p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71854D1-A671-4F2D-A2EE-1A65A9FF7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42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35126-C2B1-42E6-B6E9-ABAB4F25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Geplanter vs. realisierter Funktionsumfang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F2D55D8-BB99-46E5-BA72-FA089F847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380" y="1885189"/>
            <a:ext cx="5530620" cy="387789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DE" sz="2000"/>
              <a:t>Ursprünglich geplant:</a:t>
            </a: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/>
              <a:t>Registrierung &amp; Login</a:t>
            </a: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/>
              <a:t>Aktivitäten erfassen</a:t>
            </a: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/>
              <a:t>Ernährung dokumentieren</a:t>
            </a:r>
            <a:endParaRPr lang="de-DE">
              <a:latin typeface="BHT Case Text"/>
            </a:endParaRP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>
                <a:ea typeface="+mn-lt"/>
                <a:cs typeface="+mn-lt"/>
              </a:rPr>
              <a:t>Grunddaten erfassen</a:t>
            </a:r>
            <a:endParaRPr lang="de-DE"/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/>
              <a:t>Diagramme</a:t>
            </a:r>
            <a:endParaRPr lang="de-DE">
              <a:latin typeface="BHT Case Text"/>
            </a:endParaRP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>
                <a:ea typeface="+mn-lt"/>
                <a:cs typeface="+mn-lt"/>
              </a:rPr>
              <a:t>Grundumsatzberechnung(BMR)</a:t>
            </a:r>
            <a:endParaRPr lang="de-DE"/>
          </a:p>
          <a:p>
            <a:pPr marL="549275" lvl="1" indent="-285750">
              <a:buFont typeface="Wingdings" panose="05000000000000000000" pitchFamily="2" charset="2"/>
              <a:buChar char="§"/>
            </a:pP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8B4B07-ECCF-46C7-B698-8BB611771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0546" y="1885570"/>
            <a:ext cx="5530620" cy="387789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DE" sz="2000"/>
              <a:t>Realisierte Version:</a:t>
            </a:r>
          </a:p>
          <a:p>
            <a:pPr lvl="1">
              <a:buNone/>
            </a:pPr>
            <a:r>
              <a:rPr lang="de-DE">
                <a:solidFill>
                  <a:srgbClr val="EA3B07"/>
                </a:solidFill>
                <a:ea typeface="+mn-lt"/>
                <a:cs typeface="+mn-lt"/>
              </a:rPr>
              <a:t>✘</a:t>
            </a:r>
            <a:r>
              <a:rPr lang="de-DE">
                <a:ea typeface="+mn-lt"/>
                <a:cs typeface="+mn-lt"/>
              </a:rPr>
              <a:t> gestrichen (nicht nötig)</a:t>
            </a:r>
          </a:p>
          <a:p>
            <a:pPr lvl="1">
              <a:buNone/>
            </a:pPr>
            <a:r>
              <a:rPr lang="de-DE">
                <a:solidFill>
                  <a:srgbClr val="FFDF66"/>
                </a:solidFill>
                <a:ea typeface="+mn-lt"/>
                <a:cs typeface="+mn-lt"/>
              </a:rPr>
              <a:t>✘</a:t>
            </a:r>
            <a:r>
              <a:rPr lang="de-DE">
                <a:ea typeface="+mn-lt"/>
                <a:cs typeface="+mn-lt"/>
              </a:rPr>
              <a:t> in Arbeit</a:t>
            </a:r>
            <a:endParaRPr lang="de-DE"/>
          </a:p>
          <a:p>
            <a:pPr lvl="1">
              <a:buNone/>
            </a:pPr>
            <a:r>
              <a:rPr lang="de-DE">
                <a:solidFill>
                  <a:srgbClr val="FFDF66"/>
                </a:solidFill>
                <a:ea typeface="+mn-lt"/>
                <a:cs typeface="+mn-lt"/>
              </a:rPr>
              <a:t>✘</a:t>
            </a:r>
            <a:r>
              <a:rPr lang="de-DE">
                <a:ea typeface="+mn-lt"/>
                <a:cs typeface="+mn-lt"/>
              </a:rPr>
              <a:t> in Arbeit</a:t>
            </a:r>
            <a:endParaRPr lang="de-DE"/>
          </a:p>
          <a:p>
            <a:pPr lvl="1">
              <a:buNone/>
            </a:pPr>
            <a:r>
              <a:rPr lang="de-DE">
                <a:solidFill>
                  <a:srgbClr val="0070C0"/>
                </a:solidFill>
                <a:ea typeface="+mn-lt"/>
                <a:cs typeface="+mn-lt"/>
              </a:rPr>
              <a:t>✔</a:t>
            </a:r>
            <a:r>
              <a:rPr lang="de-DE">
                <a:ea typeface="+mn-lt"/>
                <a:cs typeface="+mn-lt"/>
              </a:rPr>
              <a:t> umgesetzt </a:t>
            </a:r>
            <a:endParaRPr lang="de-DE"/>
          </a:p>
          <a:p>
            <a:pPr lvl="1">
              <a:buNone/>
            </a:pPr>
            <a:r>
              <a:rPr lang="de-DE">
                <a:solidFill>
                  <a:srgbClr val="00B050"/>
                </a:solidFill>
                <a:ea typeface="+mn-lt"/>
                <a:cs typeface="+mn-lt"/>
              </a:rPr>
              <a:t>✘</a:t>
            </a:r>
            <a:r>
              <a:rPr lang="de-DE">
                <a:ea typeface="+mn-lt"/>
                <a:cs typeface="+mn-lt"/>
              </a:rPr>
              <a:t> in der Planung</a:t>
            </a:r>
            <a:endParaRPr lang="de-DE"/>
          </a:p>
          <a:p>
            <a:pPr lvl="1">
              <a:buNone/>
            </a:pPr>
            <a:r>
              <a:rPr lang="de-DE">
                <a:solidFill>
                  <a:srgbClr val="0070C0"/>
                </a:solidFill>
                <a:ea typeface="+mn-lt"/>
                <a:cs typeface="+mn-lt"/>
              </a:rPr>
              <a:t>✔</a:t>
            </a:r>
            <a:r>
              <a:rPr lang="de-DE">
                <a:ea typeface="+mn-lt"/>
                <a:cs typeface="+mn-lt"/>
              </a:rPr>
              <a:t> vollständig umgesetzt</a:t>
            </a:r>
            <a:endParaRPr lang="de-DE"/>
          </a:p>
          <a:p>
            <a:pPr marL="0" lvl="1" indent="0">
              <a:buNone/>
            </a:pPr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9FD2C-7E27-4D39-9EFA-3FCBA131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518FB-7B0C-49F1-8925-A4CDAE40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4D31CA-E5F5-465D-8971-13878EC0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33DAF1C-ECE5-4F89-961B-56FE1566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5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703AB2-577B-4A67-8064-8CA34AA3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Technologie-Stack &amp; Architekturmodell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25346AF-6AD4-46E0-8C9A-768F311F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84" y="1606119"/>
            <a:ext cx="11432432" cy="3877891"/>
          </a:xfrm>
        </p:spPr>
        <p:txBody>
          <a:bodyPr vert="horz" lIns="0" tIns="0" rIns="0" bIns="0" rtlCol="0" anchor="t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000" b="1"/>
              <a:t>Technologien</a:t>
            </a:r>
            <a:r>
              <a:rPr lang="de-DE"/>
              <a:t>: </a:t>
            </a:r>
            <a:endParaRPr lang="de-DE" altLang="de-DE">
              <a:latin typeface="BHT Case Text"/>
            </a:endParaRPr>
          </a:p>
          <a:p>
            <a:pPr marL="801370" lvl="4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600">
                <a:latin typeface="BHT Case Text"/>
                <a:cs typeface="Arial"/>
              </a:rPr>
              <a:t>Java mit Swing Framework</a:t>
            </a:r>
          </a:p>
          <a:p>
            <a:pPr marL="801370" lvl="4" indent="0">
              <a:lnSpc>
                <a:spcPct val="150000"/>
              </a:lnSpc>
              <a:buNone/>
            </a:pPr>
            <a:r>
              <a:rPr lang="de-DE" sz="1600" err="1">
                <a:latin typeface="BHT Case Text"/>
                <a:cs typeface="Arial"/>
              </a:rPr>
              <a:t>IntelliJ</a:t>
            </a:r>
            <a:r>
              <a:rPr lang="de-DE" sz="1600">
                <a:latin typeface="BHT Case Text"/>
                <a:cs typeface="Arial"/>
              </a:rPr>
              <a:t> SDK oder     VS-Code</a:t>
            </a:r>
            <a:endParaRPr lang="de-DE">
              <a:latin typeface="BHT Case Text"/>
            </a:endParaRPr>
          </a:p>
          <a:p>
            <a:pPr marL="801370" lvl="4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600">
                <a:latin typeface="BHT Case Text"/>
                <a:cs typeface="Arial"/>
              </a:rPr>
              <a:t>.</a:t>
            </a:r>
            <a:r>
              <a:rPr lang="de-DE" altLang="de-DE" sz="1600" err="1">
                <a:latin typeface="BHT Case Text"/>
                <a:cs typeface="Arial"/>
              </a:rPr>
              <a:t>csv</a:t>
            </a:r>
            <a:r>
              <a:rPr lang="de-DE" altLang="de-DE" sz="1600">
                <a:latin typeface="BHT Case Text"/>
                <a:cs typeface="Arial"/>
              </a:rPr>
              <a:t>, später     SQLite</a:t>
            </a:r>
          </a:p>
          <a:p>
            <a:pPr marL="801370" lvl="4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600">
                <a:latin typeface="BHT Case Text"/>
                <a:cs typeface="Arial"/>
              </a:rPr>
              <a:t>MVC-Architektur (passive View)</a:t>
            </a:r>
            <a:endParaRPr lang="de-DE" altLang="de-DE" sz="1600">
              <a:latin typeface="BHT Case Text"/>
              <a:cs typeface="Arial" panose="020B0604020202020204" pitchFamily="34" charset="0"/>
            </a:endParaRPr>
          </a:p>
          <a:p>
            <a:pPr marL="801370" lvl="4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600" err="1">
                <a:latin typeface="BHT Case Micro"/>
                <a:cs typeface="Arial"/>
              </a:rPr>
              <a:t>Git</a:t>
            </a:r>
            <a:r>
              <a:rPr lang="de-DE" altLang="de-DE" sz="1600">
                <a:latin typeface="BHT Case Micro"/>
                <a:cs typeface="Arial"/>
              </a:rPr>
              <a:t> / GitHub für Versionskontrolle</a:t>
            </a:r>
          </a:p>
          <a:p>
            <a:pPr marL="266700" lvl="4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b="1"/>
              <a:t>Warum diese Wahl?</a:t>
            </a:r>
            <a:endParaRPr lang="de-DE"/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 sz="1600"/>
              <a:t>Java = stabil, </a:t>
            </a:r>
            <a:r>
              <a:rPr lang="de-DE" sz="1600" err="1"/>
              <a:t>teamweit</a:t>
            </a:r>
            <a:r>
              <a:rPr lang="de-DE" sz="1600"/>
              <a:t> bekannt</a:t>
            </a: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 sz="1600" err="1">
                <a:latin typeface="BHT Case Text"/>
                <a:cs typeface="Arial"/>
              </a:rPr>
              <a:t>IntelliJ</a:t>
            </a:r>
            <a:r>
              <a:rPr lang="de-DE" sz="1600">
                <a:latin typeface="BHT Case Text"/>
                <a:cs typeface="Arial"/>
              </a:rPr>
              <a:t>, VS-Code</a:t>
            </a:r>
            <a:r>
              <a:rPr lang="de-DE" sz="1600">
                <a:ea typeface="+mn-lt"/>
                <a:cs typeface="+mn-lt"/>
              </a:rPr>
              <a:t> SDKs</a:t>
            </a:r>
            <a:r>
              <a:rPr lang="de-DE" sz="1600"/>
              <a:t> = direkte App-Entwicklung ohne Zusatzframeworks</a:t>
            </a:r>
          </a:p>
          <a:p>
            <a:pPr marL="549275" lvl="1" indent="-285750">
              <a:buFont typeface="Wingdings" panose="05000000000000000000" pitchFamily="2" charset="2"/>
              <a:buChar char="§"/>
            </a:pPr>
            <a:r>
              <a:rPr lang="de-DE" sz="1600"/>
              <a:t>SQLite = leichtgewichtig, perfekt für mobile offline Apps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</a:endParaRPr>
          </a:p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ECE74B4-D9E5-4C6D-9B65-D169EEDC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8A5DC1-482B-4800-90F8-D04C94F1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48F52B-90A2-4010-A9EC-1C6F1A56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6269730-375E-4519-AE6E-9D6DCABB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37EB1FF-CB95-4598-8CEE-2B9676594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438" y="1908826"/>
            <a:ext cx="208694" cy="3237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B64A324B-E5DE-4123-B775-49B154A6B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98" y="3067410"/>
            <a:ext cx="298089" cy="29808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56B8572-0EF9-486F-B3F0-F26D168E66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39" y="3448415"/>
            <a:ext cx="264248" cy="264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F4C27C-3133-8BA9-4730-71C452991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82" y="2340150"/>
            <a:ext cx="303360" cy="303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B3D3F4-D84E-2E1F-C8DE-50138EF632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922" y="2300220"/>
            <a:ext cx="316167" cy="373797"/>
          </a:xfrm>
          <a:prstGeom prst="rect">
            <a:avLst/>
          </a:prstGeom>
        </p:spPr>
      </p:pic>
      <p:pic>
        <p:nvPicPr>
          <p:cNvPr id="10" name="Picture 9" descr="Csv - Kostenlose daten und ordner-Icons">
            <a:extLst>
              <a:ext uri="{FF2B5EF4-FFF2-40B4-BE49-F238E27FC236}">
                <a16:creationId xmlns:a16="http://schemas.microsoft.com/office/drawing/2014/main" id="{47A5BA3D-4ED8-1DA9-F713-71D780AA08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865" y="2672751"/>
            <a:ext cx="477329" cy="347933"/>
          </a:xfrm>
          <a:prstGeom prst="rect">
            <a:avLst/>
          </a:prstGeom>
        </p:spPr>
      </p:pic>
      <p:pic>
        <p:nvPicPr>
          <p:cNvPr id="11" name="Picture 10" descr="File:SQLite370.svg - Wikimedia Commons">
            <a:extLst>
              <a:ext uri="{FF2B5EF4-FFF2-40B4-BE49-F238E27FC236}">
                <a16:creationId xmlns:a16="http://schemas.microsoft.com/office/drawing/2014/main" id="{321E440F-6774-142F-F76E-57CBB645F0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2154" y="2641535"/>
            <a:ext cx="445912" cy="3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42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D15B0-B5AA-4707-BC2D-D9F32F80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Anforderungen: Funktional &amp; Nicht-Funktional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2E11F3-554F-4756-B7AB-7CC422DC1A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/>
              <a:t>Funktionale Anforderungen: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Aktivität erfassen (mit Dauer, Intensität)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Kalorienverbrauch berechnen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Ernährungseinträge erfassen (Name, Portion, Kalorien)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Nutzerprofil verwalten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Tagesbericht erstellen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Daten lokal speichern</a:t>
            </a:r>
          </a:p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166B68A-6BB2-4832-8C80-433E5BBAD1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b="1"/>
              <a:t>Nicht-funktionale Anforderungen: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intuitive Bedienbarkeit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stabil &amp; zuverlässig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gute Performance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erweiterbare Datenstrukturen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/>
              <a:t>offline nutzbar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12D72D-23C4-4AC6-82EA-3731F925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10318B-6F77-4C0F-9A1A-A0ED28DD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0E6F4-920D-433F-A4AC-2565A009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0D3D4E3-8991-493E-A8F0-E65021A9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2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C2F7915-0EB7-4843-866F-64C873DA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Use-Case-Diagramm</a:t>
            </a:r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42C64FF6-8632-4178-843E-F61CFBEF7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475" y="1538287"/>
            <a:ext cx="7600950" cy="3781425"/>
          </a:xfr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788AEB-8613-4C95-AAC6-AF5B45CA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D66F12-4974-47F1-9AC8-ED5C10E2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A1CFCD-8561-489C-87F4-7FD179D4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694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E9BFD-A2B3-41E5-929D-DC072CE6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 Cases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E4B683-67B1-4CCC-B1E8-6405288C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/>
              <a:t>UC-03 Grunddaten eingeben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/>
              <a:t>Nutzer klickt auf den Profilbutton oder Einstellungen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/>
              <a:t>Gibt Alter, Größe, Gewicht und Geschlecht ein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/>
              <a:t>Optional: legt Aktivitätslevel (z. B. niedrig, mittel, hoch) fest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/>
              <a:t>App speichert Werte lokal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/>
              <a:t>System verwendet die Daten für Kalorienberechnung in UC-01</a:t>
            </a:r>
          </a:p>
          <a:p>
            <a:endParaRPr lang="de-DE"/>
          </a:p>
          <a:p>
            <a:endParaRPr lang="de-DE" b="1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C3B4EDD-9FF0-4E49-AF70-03056D1BDA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b="1"/>
              <a:t>UC-04 Kalorienauswertung anzeigen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App </a:t>
            </a:r>
            <a:r>
              <a:rPr lang="en-US" err="1"/>
              <a:t>lädt</a:t>
            </a:r>
            <a:r>
              <a:rPr lang="en-US"/>
              <a:t> </a:t>
            </a:r>
            <a:r>
              <a:rPr lang="en-US" err="1"/>
              <a:t>alle</a:t>
            </a:r>
            <a:r>
              <a:rPr lang="en-US"/>
              <a:t> </a:t>
            </a:r>
            <a:r>
              <a:rPr lang="en-US" err="1"/>
              <a:t>gespeicherten</a:t>
            </a:r>
            <a:r>
              <a:rPr lang="en-US"/>
              <a:t> </a:t>
            </a:r>
            <a:r>
              <a:rPr lang="en-US" err="1"/>
              <a:t>Tagesdaten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System </a:t>
            </a:r>
            <a:r>
              <a:rPr lang="en-US" err="1"/>
              <a:t>summiert</a:t>
            </a:r>
            <a:r>
              <a:rPr lang="en-US"/>
              <a:t> </a:t>
            </a:r>
            <a:r>
              <a:rPr lang="en-US" err="1"/>
              <a:t>Kalorienaufnahme</a:t>
            </a:r>
            <a:r>
              <a:rPr lang="en-US"/>
              <a:t> und -</a:t>
            </a:r>
            <a:r>
              <a:rPr lang="en-US" err="1"/>
              <a:t>verbrauch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App </a:t>
            </a:r>
            <a:r>
              <a:rPr lang="en-US" err="1"/>
              <a:t>berechnet</a:t>
            </a:r>
            <a:r>
              <a:rPr lang="en-US"/>
              <a:t> den </a:t>
            </a:r>
            <a:r>
              <a:rPr lang="en-US" err="1"/>
              <a:t>täglichen</a:t>
            </a:r>
            <a:r>
              <a:rPr lang="en-US"/>
              <a:t> </a:t>
            </a:r>
            <a:r>
              <a:rPr lang="en-US" err="1"/>
              <a:t>Energiehaushalt</a:t>
            </a:r>
            <a:r>
              <a:rPr lang="en-US"/>
              <a:t> (= </a:t>
            </a:r>
            <a:r>
              <a:rPr lang="en-US" err="1"/>
              <a:t>Aufnahme</a:t>
            </a:r>
            <a:r>
              <a:rPr lang="en-US"/>
              <a:t> – </a:t>
            </a:r>
            <a:r>
              <a:rPr lang="en-US" err="1"/>
              <a:t>Verbrauch</a:t>
            </a:r>
            <a:r>
              <a:rPr lang="en-US"/>
              <a:t>)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Ergebnisse</a:t>
            </a:r>
            <a:r>
              <a:rPr lang="en-US"/>
              <a:t> </a:t>
            </a:r>
            <a:r>
              <a:rPr lang="en-US" err="1"/>
              <a:t>werden</a:t>
            </a:r>
            <a:r>
              <a:rPr lang="en-US"/>
              <a:t> in </a:t>
            </a:r>
            <a:r>
              <a:rPr lang="en-US" err="1"/>
              <a:t>einem</a:t>
            </a:r>
            <a:r>
              <a:rPr lang="en-US"/>
              <a:t> </a:t>
            </a:r>
            <a:r>
              <a:rPr lang="en-US" err="1"/>
              <a:t>Balken</a:t>
            </a:r>
            <a:r>
              <a:rPr lang="en-US"/>
              <a:t>-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Kreisdiagramm</a:t>
            </a:r>
            <a:r>
              <a:rPr lang="en-US"/>
              <a:t> </a:t>
            </a:r>
            <a:r>
              <a:rPr lang="en-US" err="1"/>
              <a:t>dargestellt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Nutzer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 </a:t>
            </a:r>
            <a:r>
              <a:rPr lang="en-US" err="1"/>
              <a:t>Zeitraum</a:t>
            </a:r>
            <a:r>
              <a:rPr lang="en-US"/>
              <a:t> </a:t>
            </a:r>
            <a:r>
              <a:rPr lang="en-US" err="1"/>
              <a:t>filtern</a:t>
            </a:r>
            <a:r>
              <a:rPr lang="en-US"/>
              <a:t> (Tag/</a:t>
            </a:r>
            <a:r>
              <a:rPr lang="en-US" err="1"/>
              <a:t>Woche</a:t>
            </a:r>
            <a:r>
              <a:rPr lang="en-US"/>
              <a:t>/Monat)</a:t>
            </a:r>
            <a:endParaRPr lang="de-DE"/>
          </a:p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5B784E-593B-4CED-BD25-FA72732B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283E0-F969-482F-9E7B-5211CABB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3E83CB-142C-4EB9-A439-D1B1D0AD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9ED8F98-EFC9-42AF-AF50-AF08314B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27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E9BFD-A2B3-41E5-929D-DC072CE6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 Cases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E4B683-67B1-4CCC-B1E8-6405288C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/>
              <a:t>UC-01 Aktivität erfassen</a:t>
            </a:r>
          </a:p>
          <a:p>
            <a:pPr marL="549275" lvl="1" indent="-285750"/>
            <a:r>
              <a:rPr lang="de-DE"/>
              <a:t>Nutzer öffnet </a:t>
            </a:r>
            <a:r>
              <a:rPr lang="de-DE" err="1"/>
              <a:t>Aktivitätenmenü</a:t>
            </a:r>
            <a:endParaRPr lang="de-DE"/>
          </a:p>
          <a:p>
            <a:pPr marL="549275" lvl="1" indent="-285750"/>
            <a:r>
              <a:rPr lang="de-DE"/>
              <a:t>Wählt Aktivitätstyp</a:t>
            </a:r>
          </a:p>
          <a:p>
            <a:pPr marL="549275" lvl="1" indent="-285750"/>
            <a:r>
              <a:rPr lang="de-DE"/>
              <a:t>Gibt Dauer &amp; Intensität ein</a:t>
            </a:r>
          </a:p>
          <a:p>
            <a:pPr marL="549275" lvl="1" indent="-285750"/>
            <a:r>
              <a:rPr lang="de-DE"/>
              <a:t>App berechnet Kalorienverbrauch</a:t>
            </a:r>
          </a:p>
          <a:p>
            <a:pPr marL="549275" lvl="1" indent="-285750"/>
            <a:r>
              <a:rPr lang="de-DE"/>
              <a:t>Eintrag wird gespeichert und zur Bilanz hinzugefügt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C3B4EDD-9FF0-4E49-AF70-03056D1BDA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b="1"/>
              <a:t>UC-02 Ernährung erfassen</a:t>
            </a:r>
          </a:p>
          <a:p>
            <a:pPr marL="549275" lvl="1" indent="-285750"/>
            <a:r>
              <a:rPr lang="de-DE"/>
              <a:t>Nutzer öffnet Eingabe für Lebensmittel</a:t>
            </a:r>
          </a:p>
          <a:p>
            <a:pPr marL="549275" lvl="1" indent="-285750"/>
            <a:r>
              <a:rPr lang="de-DE"/>
              <a:t>Wählt Lebensmitteltyp</a:t>
            </a:r>
          </a:p>
          <a:p>
            <a:pPr marL="549275" lvl="1" indent="-285750"/>
            <a:r>
              <a:rPr lang="de-DE"/>
              <a:t>Gibt Portion &amp; Kalorien ein</a:t>
            </a:r>
          </a:p>
          <a:p>
            <a:pPr marL="549275" lvl="1" indent="-285750"/>
            <a:r>
              <a:rPr lang="de-DE"/>
              <a:t>App aktualisiert tägliche Kalorienaufnahme</a:t>
            </a:r>
          </a:p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5B784E-593B-4CED-BD25-FA72732B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283E0-F969-482F-9E7B-5211CABB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3E83CB-142C-4EB9-A439-D1B1D0AD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9ED8F98-EFC9-42AF-AF50-AF08314B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46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UML-Diagramme: Klassendiagramm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757697-F7E3-4CAE-A7BB-4EE796997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  <a:p>
            <a:r>
              <a:rPr lang="de-DE"/>
              <a:t>Bildet die zentralen Datenstrukturen des Fitness-Trackers ab: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/>
              <a:t>User</a:t>
            </a:r>
            <a:r>
              <a:rPr lang="de-DE"/>
              <a:t>: Enthält persönliche Daten und berechnet Kalorienverbrauch/-aufnahme.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err="1"/>
              <a:t>ActivityRecord</a:t>
            </a:r>
            <a:r>
              <a:rPr lang="de-DE"/>
              <a:t> &amp; </a:t>
            </a:r>
            <a:r>
              <a:rPr lang="de-DE" b="1" err="1"/>
              <a:t>FoodRecord</a:t>
            </a:r>
            <a:r>
              <a:rPr lang="de-DE"/>
              <a:t>: Speichern Aktivitäten bzw. konsumierte Lebensmittel eines Tages.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/>
              <a:t>Report</a:t>
            </a:r>
            <a:r>
              <a:rPr lang="de-DE"/>
              <a:t>: Aggregiert alle Einträge eines Nutzers zu einem täglichen Kalorienbericht.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/>
              <a:t>Enumerationen</a:t>
            </a:r>
            <a:r>
              <a:rPr lang="de-DE"/>
              <a:t> (</a:t>
            </a:r>
            <a:r>
              <a:rPr lang="de-DE" i="1" err="1"/>
              <a:t>ActivityType</a:t>
            </a:r>
            <a:r>
              <a:rPr lang="de-DE"/>
              <a:t>, </a:t>
            </a:r>
            <a:r>
              <a:rPr lang="de-DE" i="1" err="1"/>
              <a:t>FoodType</a:t>
            </a:r>
            <a:r>
              <a:rPr lang="de-DE"/>
              <a:t>): Standardisierte Auswahl von Aktivitäten und Lebensmitteln.</a:t>
            </a:r>
          </a:p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96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92C16129-C80F-3583-1F13-FE9F527B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84" y="615305"/>
            <a:ext cx="11432432" cy="461665"/>
          </a:xfrm>
        </p:spPr>
        <p:txBody>
          <a:bodyPr/>
          <a:lstStyle/>
          <a:p>
            <a:r>
              <a:rPr lang="de-DE"/>
              <a:t>UML-Diagramme: Klassendiagramm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3EA02E-3449-5D7B-9517-EE2168E2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991" y="1213511"/>
            <a:ext cx="6489727" cy="44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4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UML-Diagramme: Sequenzdiagramm 1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583957-928C-F2E3-9AFB-CCCCF43B1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95" y="1073727"/>
            <a:ext cx="9265972" cy="48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7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UML-Diagramme: Sequenzdiagramm 2</a:t>
            </a: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EAAB0CB4-A117-4AFA-8501-165C201565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014" b="3014"/>
          <a:stretch>
            <a:fillRect/>
          </a:stretch>
        </p:blipFill>
        <p:spPr>
          <a:xfrm>
            <a:off x="379784" y="1555750"/>
            <a:ext cx="10906316" cy="3887517"/>
          </a:xfr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37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84" y="615305"/>
            <a:ext cx="11432432" cy="769441"/>
          </a:xfrm>
        </p:spPr>
        <p:txBody>
          <a:bodyPr/>
          <a:lstStyle/>
          <a:p>
            <a:r>
              <a:rPr lang="de-DE"/>
              <a:t>Implementierung </a:t>
            </a:r>
            <a:br>
              <a:rPr lang="de-DE"/>
            </a:br>
            <a:r>
              <a:rPr lang="de-DE" sz="2000"/>
              <a:t>(am Beispiel von </a:t>
            </a:r>
            <a:r>
              <a:rPr lang="de-DE" sz="2000">
                <a:ea typeface="+mj-lt"/>
                <a:cs typeface="+mj-lt"/>
              </a:rPr>
              <a:t>Basal </a:t>
            </a:r>
            <a:r>
              <a:rPr lang="de-DE" sz="2000" err="1">
                <a:ea typeface="+mj-lt"/>
                <a:cs typeface="+mj-lt"/>
              </a:rPr>
              <a:t>Metabolic</a:t>
            </a:r>
            <a:r>
              <a:rPr lang="de-DE" sz="2000">
                <a:ea typeface="+mj-lt"/>
                <a:cs typeface="+mj-lt"/>
              </a:rPr>
              <a:t> Rate (Grundumsatzberechnung))</a:t>
            </a:r>
            <a:endParaRPr lang="en-US" sz="200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5FA56FF-34E3-44C5-8FA0-DC5FFC77B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85" y="997315"/>
            <a:ext cx="5233366" cy="3877891"/>
          </a:xfrm>
        </p:spPr>
        <p:txBody>
          <a:bodyPr vert="horz" lIns="0" tIns="0" rIns="0" bIns="0" rtlCol="0" anchor="t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de-DE" altLang="de-DE">
                <a:latin typeface="BHT Case Text"/>
                <a:cs typeface="Arial"/>
              </a:rPr>
              <a:t>MVC-Architektur  (passive View)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/>
              <a:cs typeface="Arial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>
              <a:latin typeface="BHT Case Text"/>
              <a:cs typeface="Arial" panose="020B06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4D50D7-1F44-EF63-D4B1-173DE689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3" y="1923650"/>
            <a:ext cx="4457700" cy="3676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747E2C-2501-8ECA-F7D8-42AB4F6A07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" t="587" r="8218" b="-4"/>
          <a:stretch>
            <a:fillRect/>
          </a:stretch>
        </p:blipFill>
        <p:spPr>
          <a:xfrm>
            <a:off x="6000385" y="3053685"/>
            <a:ext cx="4773571" cy="2799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073919-3BB8-D56F-2900-D37FBBDD8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073" y="1418062"/>
            <a:ext cx="24098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31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C527-CDED-151F-D83A-4FFFF79E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584504-EC32-8766-0846-EE9C29A6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84" y="615305"/>
            <a:ext cx="11432432" cy="461665"/>
          </a:xfrm>
        </p:spPr>
        <p:txBody>
          <a:bodyPr/>
          <a:lstStyle/>
          <a:p>
            <a:r>
              <a:rPr lang="de-DE"/>
              <a:t>Implementierung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F71E3DC-84EE-381C-654C-589070B9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85" y="997315"/>
            <a:ext cx="5233366" cy="3877891"/>
          </a:xfrm>
        </p:spPr>
        <p:txBody>
          <a:bodyPr vert="horz" lIns="0" tIns="0" rIns="0" bIns="0" rtlCol="0" anchor="t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de-DE" altLang="de-DE">
                <a:latin typeface="BHT Case Text"/>
                <a:cs typeface="Arial"/>
              </a:rPr>
              <a:t>Observer Pattern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/>
              <a:cs typeface="Arial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>
              <a:latin typeface="BHT Case Text"/>
              <a:cs typeface="Arial" panose="020B06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1E8356-E4DB-FDEA-6089-E4207F32C8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A56C00-7879-ABFC-8562-F27F17380F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B26F7D-132E-5331-E86A-26677EC6B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7512B21-6CCB-2157-1639-6FFB5B6E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4E908D-3DA5-A4E9-CD07-BFD35AE39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067" y="1903119"/>
            <a:ext cx="71151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24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A3E7-0054-6AA9-9C7C-AA149B59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4EAB1-9F1B-C571-3996-7B6EA5BA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84" y="615305"/>
            <a:ext cx="11432432" cy="461665"/>
          </a:xfrm>
        </p:spPr>
        <p:txBody>
          <a:bodyPr/>
          <a:lstStyle/>
          <a:p>
            <a:r>
              <a:rPr lang="de-DE"/>
              <a:t>Implementierung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E644699-D0E9-2A38-E736-47D2F2E93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85" y="997315"/>
            <a:ext cx="5233366" cy="3877891"/>
          </a:xfrm>
        </p:spPr>
        <p:txBody>
          <a:bodyPr vert="horz" lIns="0" tIns="0" rIns="0" bIns="0" rtlCol="0" anchor="t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de-DE" altLang="de-DE">
                <a:latin typeface="BHT Case Text"/>
                <a:cs typeface="Arial"/>
              </a:rPr>
              <a:t>Repository Pattern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/>
              <a:cs typeface="Arial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>
              <a:latin typeface="BHT Case Text"/>
              <a:cs typeface="Arial" panose="020B06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FB6790-6EE0-5EBC-3A85-88E52E25AB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C2B83B-1D2C-B14B-EE42-10656A721D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C09E69-CB90-445A-5AD7-A5F97614BA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007B4-1B8F-564A-50AD-BA1FDF38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0011C1-868A-F3CA-7E52-DA2F528A0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466" y="2181025"/>
            <a:ext cx="40481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7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Versionsverwaltung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706F252-3B9D-E302-0D9D-97F0E169C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1777" y="1088281"/>
            <a:ext cx="5984612" cy="2579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EA774B-B8F6-7CEF-7E90-B2B9063AD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421" y="2934487"/>
            <a:ext cx="2039836" cy="2303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3CAC0D-F1D3-427C-C781-26C2676F8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683" y="4530579"/>
            <a:ext cx="2828925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34ACA8-A092-7D2F-9AA4-21EAF1C618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5" r="-87" b="1786"/>
          <a:stretch>
            <a:fillRect/>
          </a:stretch>
        </p:blipFill>
        <p:spPr>
          <a:xfrm>
            <a:off x="1994788" y="5372929"/>
            <a:ext cx="7908772" cy="38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7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DAED-FDC5-B13F-DEA3-FD8655CB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65A29-06E8-7A3C-3FD8-3B767F14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Teamarbeit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C75F38-7221-A090-A055-E264CB7D02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00E7C3-D712-CA31-0EC5-91DCF6FCB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DEC0A2-74BE-CB30-3506-28EFEF0323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3BD71C6-AD39-393D-3486-AA597AEC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8" name="Picture 7" descr="File:Jira Logo.svg - Wikimedia Commons">
            <a:extLst>
              <a:ext uri="{FF2B5EF4-FFF2-40B4-BE49-F238E27FC236}">
                <a16:creationId xmlns:a16="http://schemas.microsoft.com/office/drawing/2014/main" id="{A85A9649-39E3-C530-CCA1-5C930E87D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605" y="2604737"/>
            <a:ext cx="2830586" cy="1222084"/>
          </a:xfrm>
          <a:prstGeom prst="rect">
            <a:avLst/>
          </a:prstGeom>
        </p:spPr>
      </p:pic>
      <p:pic>
        <p:nvPicPr>
          <p:cNvPr id="11" name="Picture 10" descr="Discord - Free social icons">
            <a:extLst>
              <a:ext uri="{FF2B5EF4-FFF2-40B4-BE49-F238E27FC236}">
                <a16:creationId xmlns:a16="http://schemas.microsoft.com/office/drawing/2014/main" id="{035F39A5-6801-2B79-6C2F-EAE3FA76F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0" y="1654728"/>
            <a:ext cx="3115112" cy="3122103"/>
          </a:xfrm>
          <a:prstGeom prst="rect">
            <a:avLst/>
          </a:prstGeom>
        </p:spPr>
      </p:pic>
      <p:pic>
        <p:nvPicPr>
          <p:cNvPr id="16" name="Picture 15" descr="GitHub icon for Android in PNG, SVG">
            <a:extLst>
              <a:ext uri="{FF2B5EF4-FFF2-40B4-BE49-F238E27FC236}">
                <a16:creationId xmlns:a16="http://schemas.microsoft.com/office/drawing/2014/main" id="{BC856152-934C-2BAE-3436-358AED09D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398" y="1333150"/>
            <a:ext cx="3758268" cy="37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57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Testing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pic>
        <p:nvPicPr>
          <p:cNvPr id="12" name="Picture 11" descr="JUnit">
            <a:extLst>
              <a:ext uri="{FF2B5EF4-FFF2-40B4-BE49-F238E27FC236}">
                <a16:creationId xmlns:a16="http://schemas.microsoft.com/office/drawing/2014/main" id="{BA27D990-640A-D1D1-8984-C6DB112E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53" y="2358923"/>
            <a:ext cx="4019550" cy="1133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358B85-8390-0698-B4E2-0509BFC79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73" y="685100"/>
            <a:ext cx="6959184" cy="448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7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KI-Nutzung mit Chat-GPT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sp>
        <p:nvSpPr>
          <p:cNvPr id="13" name="Inhaltsplatzhalter 7">
            <a:extLst>
              <a:ext uri="{FF2B5EF4-FFF2-40B4-BE49-F238E27FC236}">
                <a16:creationId xmlns:a16="http://schemas.microsoft.com/office/drawing/2014/main" id="{0B59B25D-CF16-4AD2-C666-93B9FD781CD6}"/>
              </a:ext>
            </a:extLst>
          </p:cNvPr>
          <p:cNvSpPr txBox="1">
            <a:spLocks/>
          </p:cNvSpPr>
          <p:nvPr/>
        </p:nvSpPr>
        <p:spPr>
          <a:xfrm>
            <a:off x="379784" y="1855365"/>
            <a:ext cx="5530620" cy="38778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de-DE" sz="1600"/>
            </a:br>
            <a:br>
              <a:rPr lang="de-DE"/>
            </a:br>
            <a:br>
              <a:rPr lang="de-DE"/>
            </a:br>
            <a:br>
              <a:rPr lang="de-DE"/>
            </a:br>
            <a:endParaRPr lang="de-DE"/>
          </a:p>
          <a:p>
            <a:endParaRPr lang="de-DE"/>
          </a:p>
        </p:txBody>
      </p:sp>
      <p:pic>
        <p:nvPicPr>
          <p:cNvPr id="3" name="Picture 2" descr="1+ Hundred Chat Gpt Icon Outline ...">
            <a:extLst>
              <a:ext uri="{FF2B5EF4-FFF2-40B4-BE49-F238E27FC236}">
                <a16:creationId xmlns:a16="http://schemas.microsoft.com/office/drawing/2014/main" id="{338ED8F0-DA0B-1486-F84A-A94526A4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12" y="1973182"/>
            <a:ext cx="2143125" cy="2143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8219D8-0DD2-BE54-CA77-6CA6FCF65E58}"/>
              </a:ext>
            </a:extLst>
          </p:cNvPr>
          <p:cNvSpPr txBox="1"/>
          <p:nvPr/>
        </p:nvSpPr>
        <p:spPr>
          <a:xfrm>
            <a:off x="1374205" y="2132949"/>
            <a:ext cx="2477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Requirements Engineering</a:t>
            </a:r>
            <a:r>
              <a:t>​</a:t>
            </a:r>
            <a:endParaRPr lang="en-US"/>
          </a:p>
          <a:p>
            <a:pPr algn="l"/>
            <a:endParaRPr lang="en-US" sz="120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C5249-31AD-DA2D-5B58-99DB32E582D3}"/>
              </a:ext>
            </a:extLst>
          </p:cNvPr>
          <p:cNvSpPr txBox="1"/>
          <p:nvPr/>
        </p:nvSpPr>
        <p:spPr>
          <a:xfrm>
            <a:off x="1758461" y="2881924"/>
            <a:ext cx="21869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Stakeholder-Simulation</a:t>
            </a:r>
            <a:endParaRPr lang="en-US"/>
          </a:p>
          <a:p>
            <a:pPr algn="l"/>
            <a:endParaRPr lang="en-US" sz="12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2DBBB-E57A-FF90-F95D-88828555294A}"/>
              </a:ext>
            </a:extLst>
          </p:cNvPr>
          <p:cNvSpPr txBox="1"/>
          <p:nvPr/>
        </p:nvSpPr>
        <p:spPr>
          <a:xfrm>
            <a:off x="2793999" y="3656949"/>
            <a:ext cx="9345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Use Cases</a:t>
            </a:r>
            <a:endParaRPr lang="en-US"/>
          </a:p>
          <a:p>
            <a:pPr algn="l"/>
            <a:endParaRPr lang="en-US" sz="120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5935E-8C46-E40A-83BD-3F3A4C99D9DB}"/>
              </a:ext>
            </a:extLst>
          </p:cNvPr>
          <p:cNvSpPr txBox="1"/>
          <p:nvPr/>
        </p:nvSpPr>
        <p:spPr>
          <a:xfrm>
            <a:off x="8362462" y="2132948"/>
            <a:ext cx="17200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aseline="0">
                <a:latin typeface="BHT Case Text"/>
              </a:rPr>
              <a:t>UML-Diagrammen</a:t>
            </a:r>
            <a:endParaRPr lang="en-US"/>
          </a:p>
          <a:p>
            <a:pPr algn="l"/>
            <a:endParaRPr lang="en-US" sz="120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D0311-6BF3-BDDB-00F8-96A02A83F14D}"/>
              </a:ext>
            </a:extLst>
          </p:cNvPr>
          <p:cNvSpPr txBox="1"/>
          <p:nvPr/>
        </p:nvSpPr>
        <p:spPr>
          <a:xfrm>
            <a:off x="8440615" y="3201052"/>
            <a:ext cx="1741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Code-Optimierung</a:t>
            </a:r>
            <a:endParaRPr lang="en-US"/>
          </a:p>
          <a:p>
            <a:pPr algn="l"/>
            <a:endParaRPr lang="en-US" sz="12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CD799-FC47-B74E-2EFF-A50821DF5814}"/>
              </a:ext>
            </a:extLst>
          </p:cNvPr>
          <p:cNvSpPr txBox="1"/>
          <p:nvPr/>
        </p:nvSpPr>
        <p:spPr>
          <a:xfrm>
            <a:off x="3008923" y="4510128"/>
            <a:ext cx="580812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b="1"/>
            </a:br>
            <a:r>
              <a:rPr lang="de-DE" b="1"/>
              <a:t>KI als Ergänzung – nicht als Ersatz für eigene Entscheidungen.</a:t>
            </a:r>
            <a:endParaRPr lang="en-US" b="1"/>
          </a:p>
          <a:p>
            <a:pPr algn="l"/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343936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04784-5F79-4588-8A6C-3BDF198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Herausforderungen und 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C643A3-9777-4D8B-839E-0C3EDF74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51" y="1829314"/>
            <a:ext cx="4907407" cy="12662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DE" b="1" dirty="0"/>
              <a:t>Technische Herausforderungen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MVC-Architektur 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Versionskonflikte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4043B-F4D8-4414-B2FC-53DC885E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Team 1: Sönmez Süner, Jost Nadwornik, Volodymyr Rusobrov, Oksana Orel, Magdalena Kretschmer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3015D-E076-48C6-A23F-0D7D60A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Fitness-Tracker App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0180-7FBA-4F14-A3F1-B7041F9D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D1D84AD-C324-4090-B0D3-3260E53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6104035"/>
            <a:ext cx="1812139" cy="368188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B92F126-952A-A5BE-CD2B-8E8F30DB6D51}"/>
              </a:ext>
            </a:extLst>
          </p:cNvPr>
          <p:cNvSpPr txBox="1">
            <a:spLocks/>
          </p:cNvSpPr>
          <p:nvPr/>
        </p:nvSpPr>
        <p:spPr>
          <a:xfrm>
            <a:off x="5523818" y="1829314"/>
            <a:ext cx="4637974" cy="16765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Team-Organisatorische Herausforderungen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Koordination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Vorwissen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Absprache</a:t>
            </a:r>
          </a:p>
          <a:p>
            <a:endParaRPr lang="de-DE" b="1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EB85F2B-0F99-D294-D1CE-72D5CB3ADDE3}"/>
              </a:ext>
            </a:extLst>
          </p:cNvPr>
          <p:cNvSpPr txBox="1">
            <a:spLocks/>
          </p:cNvSpPr>
          <p:nvPr/>
        </p:nvSpPr>
        <p:spPr>
          <a:xfrm>
            <a:off x="3369168" y="3815723"/>
            <a:ext cx="4007818" cy="2002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3525" indent="-263525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7305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3" indent="-274638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3525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Lösungen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err="1"/>
              <a:t>Branching</a:t>
            </a:r>
            <a:r>
              <a:rPr lang="de-DE" dirty="0"/>
              <a:t>-Strategie 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Jira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Wöchentliche Meetings(Discord) </a:t>
            </a:r>
          </a:p>
          <a:p>
            <a:pPr marL="549275" lvl="1" indent="-285750">
              <a:buFont typeface="Wingdings" panose="05000000000000000000" pitchFamily="2" charset="2"/>
              <a:buChar char="Ø"/>
            </a:pPr>
            <a:r>
              <a:rPr lang="de-DE" dirty="0"/>
              <a:t>Gegenseitiges Lehren</a:t>
            </a:r>
          </a:p>
          <a:p>
            <a:pPr lvl="1"/>
            <a:endParaRPr lang="de-DE" dirty="0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681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HT PPT Master 2021">
  <a:themeElements>
    <a:clrScheme name="Benutzerdefiniert 42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555555"/>
      </a:accent6>
      <a:hlink>
        <a:srgbClr val="004282"/>
      </a:hlink>
      <a:folHlink>
        <a:srgbClr val="EA3B07"/>
      </a:folHlink>
    </a:clrScheme>
    <a:fontScheme name="Benutzerdefiniert 13">
      <a:majorFont>
        <a:latin typeface="BHT Case Micro"/>
        <a:ea typeface=""/>
        <a:cs typeface=""/>
      </a:majorFont>
      <a:minorFont>
        <a:latin typeface="BHT Case Tex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2"/>
          </a:solidFill>
        </a:ln>
      </a:spPr>
      <a:bodyPr lIns="72000" tIns="72000" rIns="72000" bIns="7200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BHT-Rot">
      <a:srgbClr val="EA3B07"/>
    </a:custClr>
    <a:custClr name="BHT-Gelb">
      <a:srgbClr val="FFC900"/>
    </a:custClr>
    <a:custClr name="BHT-Petrol">
      <a:srgbClr val="00A0AA"/>
    </a:custClr>
    <a:custClr name="BHT-Blau">
      <a:srgbClr val="004282"/>
    </a:custClr>
    <a:custClr name="BHT-Anthrazit">
      <a:srgbClr val="555555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BHT_PPT-Master2021.pptx" id="{B31B10A5-A047-420C-8AF0-148D598F75EA}" vid="{5CAD2D49-1756-49AE-8E13-82170D48D2BC}"/>
    </a:ext>
  </a:extLst>
</a:theme>
</file>

<file path=ppt/theme/theme2.xml><?xml version="1.0" encoding="utf-8"?>
<a:theme xmlns:a="http://schemas.openxmlformats.org/drawingml/2006/main" name="Office">
  <a:themeElements>
    <a:clrScheme name="Benutzerdefiniert 42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555555"/>
      </a:accent6>
      <a:hlink>
        <a:srgbClr val="004282"/>
      </a:hlink>
      <a:folHlink>
        <a:srgbClr val="EA3B07"/>
      </a:folHlink>
    </a:clrScheme>
    <a:fontScheme name="Benutzerdefiniert 13">
      <a:majorFont>
        <a:latin typeface="BHT Case Micro"/>
        <a:ea typeface=""/>
        <a:cs typeface=""/>
      </a:majorFont>
      <a:minorFont>
        <a:latin typeface="BHT Cas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42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555555"/>
      </a:accent6>
      <a:hlink>
        <a:srgbClr val="004282"/>
      </a:hlink>
      <a:folHlink>
        <a:srgbClr val="EA3B07"/>
      </a:folHlink>
    </a:clrScheme>
    <a:fontScheme name="Benutzerdefiniert 13">
      <a:majorFont>
        <a:latin typeface="BHT Case Micro"/>
        <a:ea typeface=""/>
        <a:cs typeface=""/>
      </a:majorFont>
      <a:minorFont>
        <a:latin typeface="BHT Cas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BHT_PPT-Master_16zu9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BHT PPT Master 2021</vt:lpstr>
      <vt:lpstr>Fitness-Tracker App</vt:lpstr>
      <vt:lpstr>Gliederung</vt:lpstr>
      <vt:lpstr>Projektthema: Einführung &amp; Motivation</vt:lpstr>
      <vt:lpstr>Geplanter vs. realisierter Funktionsumfang</vt:lpstr>
      <vt:lpstr>Technologie-Stack &amp; Architekturmodell</vt:lpstr>
      <vt:lpstr>Anforderungen: Funktional &amp; Nicht-Funktional </vt:lpstr>
      <vt:lpstr>Use-Case-Diagramm</vt:lpstr>
      <vt:lpstr>Use Cases</vt:lpstr>
      <vt:lpstr>Use Cases</vt:lpstr>
      <vt:lpstr>UML-Diagramme: Klassendiagramm</vt:lpstr>
      <vt:lpstr>UML-Diagramme: Klassendiagramm</vt:lpstr>
      <vt:lpstr>UML-Diagramme: Sequenzdiagramm 1</vt:lpstr>
      <vt:lpstr>UML-Diagramme: Sequenzdiagramm 2</vt:lpstr>
      <vt:lpstr>Implementierung  (am Beispiel von Basal Metabolic Rate (Grundumsatzberechnung))</vt:lpstr>
      <vt:lpstr>Implementierung</vt:lpstr>
      <vt:lpstr>Implementierung</vt:lpstr>
      <vt:lpstr>Versionsverwaltung</vt:lpstr>
      <vt:lpstr>Teamarbeit</vt:lpstr>
      <vt:lpstr>Testing</vt:lpstr>
      <vt:lpstr>KI-Nutzung mit Chat-GPT</vt:lpstr>
      <vt:lpstr>Herausforderungen und Lösungen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Veranstaltung</dc:title>
  <dc:creator>Rusobrov, Volodymyr</dc:creator>
  <cp:revision>57</cp:revision>
  <dcterms:created xsi:type="dcterms:W3CDTF">2025-11-27T18:39:09Z</dcterms:created>
  <dcterms:modified xsi:type="dcterms:W3CDTF">2025-12-05T19:14:37Z</dcterms:modified>
</cp:coreProperties>
</file>